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3" r:id="rId4"/>
    <p:sldId id="258" r:id="rId5"/>
    <p:sldId id="274" r:id="rId6"/>
    <p:sldId id="259" r:id="rId7"/>
    <p:sldId id="260" r:id="rId8"/>
    <p:sldId id="270" r:id="rId9"/>
    <p:sldId id="266" r:id="rId10"/>
    <p:sldId id="267" r:id="rId11"/>
    <p:sldId id="262" r:id="rId12"/>
    <p:sldId id="275" r:id="rId13"/>
    <p:sldId id="264" r:id="rId14"/>
    <p:sldId id="265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660"/>
  </p:normalViewPr>
  <p:slideViewPr>
    <p:cSldViewPr snapToGrid="0">
      <p:cViewPr>
        <p:scale>
          <a:sx n="100" d="100"/>
          <a:sy n="100" d="100"/>
        </p:scale>
        <p:origin x="400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ED71D-17A6-4F59-9206-CEDD07463A9F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5D275-07EA-4156-837C-AC39E3E9F5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2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D250B-9D90-443D-A986-E0D4869F80E9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2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357-713E-41EE-9A56-C0B8C10498BD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44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2AD64-FF40-427B-BFC6-35032799AEC1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65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2AD0-7FF5-4006-A975-98FDB3709101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74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77E4-A3C8-4A69-A374-87BC408D04D4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68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52C1-93C0-480A-8ABF-11D663F61BFB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190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EA35-41EF-49DE-BA0F-DA0ACFD440EF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14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10594-00BA-479D-99AC-009CDAE225D1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54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F1F6-EED4-4B0A-8FB5-DFF0BF3AD652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9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ED0-970B-41FF-BCD5-2A5C5CDEF380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70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685E-899B-474A-9F79-600DA8E1189D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1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1E871-B25E-49F0-A24A-0CE433216BB0}" type="datetime1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A229-CA29-4F24-846F-09032DAA2A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98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gsanli5201/DeepPCB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93371" y="2190383"/>
            <a:ext cx="9405257" cy="1163637"/>
          </a:xfrm>
        </p:spPr>
        <p:txBody>
          <a:bodyPr anchor="ctr" anchorCtr="0">
            <a:normAutofit fontScale="90000"/>
          </a:bodyPr>
          <a:lstStyle/>
          <a:p>
            <a:r>
              <a:rPr lang="zh-TW" altLang="zh-TW" dirty="0"/>
              <a:t>PCB 板瑕疵邊緣偵測</a:t>
            </a:r>
            <a:br>
              <a:rPr lang="zh-TW" altLang="zh-TW" dirty="0"/>
            </a:br>
            <a:r>
              <a:rPr lang="zh-TW" altLang="zh-TW" dirty="0"/>
              <a:t>短路與開路之自動化光學檢測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809999" y="3503981"/>
            <a:ext cx="4572000" cy="1655762"/>
          </a:xfrm>
        </p:spPr>
        <p:txBody>
          <a:bodyPr lIns="36000" tIns="36000" rIns="36000" bIns="36000" anchor="ctr" anchorCtr="0">
            <a:normAutofit/>
          </a:bodyPr>
          <a:lstStyle/>
          <a:p>
            <a:r>
              <a:rPr lang="zh-TW" altLang="zh-TW" dirty="0"/>
              <a:t>411287019 電機三 劉銘和</a:t>
            </a:r>
          </a:p>
          <a:p>
            <a:r>
              <a:rPr lang="zh-TW" altLang="zh-TW" dirty="0"/>
              <a:t>411187001 電機四 陳以軒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E3C2C0-6831-A0EF-72B7-3330DDC5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08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4BCA-24CD-B153-4F29-6C4A6610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5AB66-B992-BA00-B618-EC133B68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檢測物件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05EBB6-EE71-8F8A-D58E-A27CD3809FB0}"/>
              </a:ext>
            </a:extLst>
          </p:cNvPr>
          <p:cNvSpPr txBox="1"/>
          <p:nvPr/>
        </p:nvSpPr>
        <p:spPr>
          <a:xfrm>
            <a:off x="1066800" y="7920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b="0" i="0" dirty="0">
                <a:effectLst/>
              </a:rPr>
              <a:t>針對「幾何輪廓遭到破壞或改變」的 PCB 走線與銅箔缺陷進行檢測。</a:t>
            </a:r>
            <a:endParaRPr lang="zh-TW" altLang="zh-TW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2400" b="1" i="0" dirty="0">
                <a:effectLst/>
              </a:rPr>
              <a:t>檢測目標瑕疵種類：</a:t>
            </a:r>
            <a:endParaRPr lang="zh-TW" altLang="zh-TW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57288E1-14CC-4020-2D5B-1F39F5776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184580"/>
              </p:ext>
            </p:extLst>
          </p:nvPr>
        </p:nvGraphicFramePr>
        <p:xfrm>
          <a:off x="298288" y="1622997"/>
          <a:ext cx="11181288" cy="517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096">
                  <a:extLst>
                    <a:ext uri="{9D8B030D-6E8A-4147-A177-3AD203B41FA5}">
                      <a16:colId xmlns:a16="http://schemas.microsoft.com/office/drawing/2014/main" val="2009267747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2890516028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1304170180"/>
                    </a:ext>
                  </a:extLst>
                </a:gridCol>
              </a:tblGrid>
              <a:tr h="121049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800" b="1" i="0" dirty="0">
                          <a:effectLst/>
                        </a:rPr>
                        <a:t>短路 (Short / Solder Bridge)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800" b="1" i="0" dirty="0">
                          <a:effectLst/>
                        </a:rPr>
                        <a:t>開路 / 斷路 (Open / Mouse Bite)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499403"/>
                  </a:ext>
                </a:extLst>
              </a:tr>
              <a:tr h="1396988">
                <a:tc>
                  <a:txBody>
                    <a:bodyPr/>
                    <a:lstStyle/>
                    <a:p>
                      <a:r>
                        <a:rPr lang="zh-TW" altLang="en-US" dirty="0"/>
                        <a:t>簡述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dirty="0">
                          <a:effectLst/>
                        </a:rPr>
                        <a:t>兩條原本平行的走線邊緣之間，出現了不該存在的「橫向邊緣」將其連接，導致電路</a:t>
                      </a:r>
                      <a:r>
                        <a:rPr lang="zh-TW" altLang="zh-TW" sz="1800" b="0" i="0" dirty="0">
                          <a:solidFill>
                            <a:srgbClr val="FF0000"/>
                          </a:solidFill>
                          <a:effectLst/>
                        </a:rPr>
                        <a:t>異常導通</a:t>
                      </a:r>
                      <a:r>
                        <a:rPr lang="zh-TW" altLang="zh-TW" sz="1800" b="0" i="0" dirty="0">
                          <a:effectLst/>
                        </a:rPr>
                        <a:t>。</a:t>
                      </a:r>
                      <a:endParaRPr lang="zh-TW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dirty="0">
                          <a:effectLst/>
                        </a:rPr>
                        <a:t>連續的直線走線邊緣突然中斷，或是邊緣出現向內凹陷導致</a:t>
                      </a:r>
                      <a:r>
                        <a:rPr lang="zh-TW" altLang="zh-TW" sz="1800" b="0" i="0" dirty="0">
                          <a:solidFill>
                            <a:srgbClr val="FF0000"/>
                          </a:solidFill>
                          <a:effectLst/>
                        </a:rPr>
                        <a:t>線路斷開</a:t>
                      </a:r>
                      <a:r>
                        <a:rPr lang="zh-TW" altLang="zh-TW" sz="1800" b="0" i="0" dirty="0">
                          <a:effectLst/>
                        </a:rPr>
                        <a:t>，造成訊號無法傳遞。</a:t>
                      </a:r>
                      <a:endParaRPr lang="zh-TW" altLang="zh-TW" sz="1800" dirty="0"/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24458"/>
                  </a:ext>
                </a:extLst>
              </a:tr>
              <a:tr h="2566929">
                <a:tc>
                  <a:txBody>
                    <a:bodyPr/>
                    <a:lstStyle/>
                    <a:p>
                      <a:r>
                        <a:rPr lang="zh-TW" altLang="en-US" dirty="0"/>
                        <a:t>圖片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70846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6486BE-29D9-D0F4-6F85-8B99DEE7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860D5BD-F7CA-122D-94FF-0DC9DB197E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09" r="8609"/>
          <a:stretch>
            <a:fillRect/>
          </a:stretch>
        </p:blipFill>
        <p:spPr>
          <a:xfrm>
            <a:off x="4164102" y="4286138"/>
            <a:ext cx="1440000" cy="18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A9BF2E2-C962-188F-FEB6-670461A173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19" r="12319"/>
          <a:stretch>
            <a:fillRect/>
          </a:stretch>
        </p:blipFill>
        <p:spPr>
          <a:xfrm>
            <a:off x="6151090" y="4286138"/>
            <a:ext cx="1440000" cy="180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F61597D-24AC-F843-8A1D-92F6A7171B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63" r="13461"/>
          <a:stretch>
            <a:fillRect/>
          </a:stretch>
        </p:blipFill>
        <p:spPr>
          <a:xfrm>
            <a:off x="7997260" y="4286139"/>
            <a:ext cx="1440000" cy="96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CF227A5-5989-A78F-2A58-8CC3796ACED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607" t="3453" r="765" b="4537"/>
          <a:stretch>
            <a:fillRect/>
          </a:stretch>
        </p:blipFill>
        <p:spPr>
          <a:xfrm>
            <a:off x="9685200" y="4286139"/>
            <a:ext cx="1440000" cy="960000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D76D3306-1B29-2E75-AF02-98D71D5770CD}"/>
              </a:ext>
            </a:extLst>
          </p:cNvPr>
          <p:cNvSpPr/>
          <p:nvPr/>
        </p:nvSpPr>
        <p:spPr>
          <a:xfrm>
            <a:off x="6637867" y="4876800"/>
            <a:ext cx="537633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B220CE68-8445-FCAB-2038-7B8E6D12BBDF}"/>
              </a:ext>
            </a:extLst>
          </p:cNvPr>
          <p:cNvSpPr/>
          <p:nvPr/>
        </p:nvSpPr>
        <p:spPr>
          <a:xfrm>
            <a:off x="10405200" y="4461339"/>
            <a:ext cx="537633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84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8DDA-A5D3-6B34-437E-F2056C2E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C55B6-5032-EF60-8864-CB484586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檢測物件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4164D7E-F29D-38FE-D15E-89378984DFB1}"/>
              </a:ext>
            </a:extLst>
          </p:cNvPr>
          <p:cNvSpPr txBox="1"/>
          <p:nvPr/>
        </p:nvSpPr>
        <p:spPr>
          <a:xfrm>
            <a:off x="1066800" y="7920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b="0" i="0" dirty="0">
                <a:effectLst/>
              </a:rPr>
              <a:t>針對「幾何輪廓遭到破壞或改變」的 PCB 走線與銅箔缺陷進行檢測。</a:t>
            </a:r>
            <a:endParaRPr lang="zh-TW" altLang="zh-TW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sz="2400" b="1" i="0" dirty="0">
                <a:effectLst/>
              </a:rPr>
              <a:t>檢測目標</a:t>
            </a:r>
            <a:r>
              <a:rPr lang="zh-TW" altLang="en-US" sz="2400" b="1" dirty="0"/>
              <a:t>特徵</a:t>
            </a:r>
            <a:r>
              <a:rPr lang="zh-TW" altLang="zh-TW" sz="2400" b="1" i="0" dirty="0">
                <a:effectLst/>
              </a:rPr>
              <a:t>：</a:t>
            </a:r>
            <a:endParaRPr lang="zh-TW" altLang="zh-TW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4C89FD6-DD7B-4A0A-038D-5BBF0B579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7664"/>
              </p:ext>
            </p:extLst>
          </p:nvPr>
        </p:nvGraphicFramePr>
        <p:xfrm>
          <a:off x="505356" y="1622997"/>
          <a:ext cx="11181288" cy="282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096">
                  <a:extLst>
                    <a:ext uri="{9D8B030D-6E8A-4147-A177-3AD203B41FA5}">
                      <a16:colId xmlns:a16="http://schemas.microsoft.com/office/drawing/2014/main" val="2009267747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2890516028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1304170180"/>
                    </a:ext>
                  </a:extLst>
                </a:gridCol>
              </a:tblGrid>
              <a:tr h="1210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 b="1" i="0" dirty="0">
                          <a:effectLst/>
                        </a:rPr>
                        <a:t>形狀 (Shape)</a:t>
                      </a:r>
                      <a:endParaRPr lang="zh-TW" altLang="en-US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2000" b="1" i="0" dirty="0">
                          <a:effectLst/>
                        </a:rPr>
                        <a:t>顏色 (Color)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2000" b="1" i="0" dirty="0">
                          <a:effectLst/>
                        </a:rPr>
                        <a:t>紋理 (Texture)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499403"/>
                  </a:ext>
                </a:extLst>
              </a:tr>
              <a:tr h="1396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 b="0" i="0" dirty="0">
                          <a:effectLst/>
                        </a:rPr>
                        <a:t>PCB 走線具備規律且筆直的幾何輪廓。瑕疵特徵表現為連續線段的</a:t>
                      </a:r>
                      <a:r>
                        <a:rPr lang="zh-TW" altLang="zh-TW" sz="2000" b="0" i="0" dirty="0">
                          <a:solidFill>
                            <a:srgbClr val="FF0000"/>
                          </a:solidFill>
                          <a:effectLst/>
                        </a:rPr>
                        <a:t>突兀中斷</a:t>
                      </a:r>
                      <a:r>
                        <a:rPr lang="zh-TW" altLang="zh-TW" sz="2000" b="0" i="0" dirty="0">
                          <a:effectLst/>
                        </a:rPr>
                        <a:t>（開路）或</a:t>
                      </a:r>
                      <a:r>
                        <a:rPr lang="zh-TW" altLang="zh-TW" sz="2000" b="0" i="0" dirty="0">
                          <a:solidFill>
                            <a:srgbClr val="FF0000"/>
                          </a:solidFill>
                          <a:effectLst/>
                        </a:rPr>
                        <a:t>異常連接</a:t>
                      </a:r>
                      <a:r>
                        <a:rPr lang="zh-TW" altLang="zh-TW" sz="2000" b="0" i="0" dirty="0">
                          <a:effectLst/>
                        </a:rPr>
                        <a:t>區塊（短路）。</a:t>
                      </a:r>
                      <a:endParaRPr lang="zh-TW" altLang="zh-TW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 b="0" i="0" dirty="0">
                          <a:effectLst/>
                        </a:rPr>
                        <a:t>在工業相機拍攝下，高反射率的金屬銅箔走線呈現高亮度</a:t>
                      </a:r>
                      <a:r>
                        <a:rPr lang="zh-TW" altLang="zh-TW" sz="2000" b="0" i="0" dirty="0">
                          <a:solidFill>
                            <a:srgbClr val="FF0000"/>
                          </a:solidFill>
                          <a:effectLst/>
                        </a:rPr>
                        <a:t>白色</a:t>
                      </a:r>
                      <a:r>
                        <a:rPr lang="zh-TW" altLang="zh-TW" sz="2000" b="0" i="0" dirty="0">
                          <a:effectLst/>
                        </a:rPr>
                        <a:t>，而平坦的基板背景則呈現低反射率的</a:t>
                      </a:r>
                      <a:r>
                        <a:rPr lang="zh-TW" altLang="zh-TW" sz="2000" b="0" i="0" dirty="0">
                          <a:solidFill>
                            <a:srgbClr val="FF0000"/>
                          </a:solidFill>
                          <a:effectLst/>
                        </a:rPr>
                        <a:t>黑色</a:t>
                      </a:r>
                      <a:r>
                        <a:rPr lang="zh-TW" altLang="zh-TW" sz="2000" b="0" i="0" dirty="0">
                          <a:effectLst/>
                        </a:rPr>
                        <a:t>。</a:t>
                      </a:r>
                      <a:endParaRPr lang="zh-TW" altLang="zh-T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000" b="0" i="0" dirty="0">
                          <a:effectLst/>
                        </a:rPr>
                        <a:t>表面平坦，金屬與基板交界處有銳利的</a:t>
                      </a:r>
                      <a:r>
                        <a:rPr lang="zh-TW" altLang="zh-TW" sz="2000" b="0" i="0" dirty="0">
                          <a:solidFill>
                            <a:srgbClr val="FF0000"/>
                          </a:solidFill>
                          <a:effectLst/>
                        </a:rPr>
                        <a:t>高對比邊緣</a:t>
                      </a:r>
                      <a:r>
                        <a:rPr lang="zh-TW" altLang="zh-TW" sz="2000" b="0" i="0" dirty="0">
                          <a:effectLst/>
                        </a:rPr>
                        <a:t>。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24458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F80693-EE52-5242-BCBB-DD3DF095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1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檢測方法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84E7CDA-2717-92B9-D5B7-FB7D2A378023}"/>
              </a:ext>
            </a:extLst>
          </p:cNvPr>
          <p:cNvGrpSpPr/>
          <p:nvPr/>
        </p:nvGrpSpPr>
        <p:grpSpPr>
          <a:xfrm>
            <a:off x="527049" y="1275986"/>
            <a:ext cx="5113587" cy="4967586"/>
            <a:chOff x="546100" y="304800"/>
            <a:chExt cx="2806700" cy="4140200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58503938-611F-D205-CB16-FD5111CAE412}"/>
                </a:ext>
              </a:extLst>
            </p:cNvPr>
            <p:cNvSpPr/>
            <p:nvPr/>
          </p:nvSpPr>
          <p:spPr>
            <a:xfrm>
              <a:off x="830942" y="907142"/>
              <a:ext cx="2237014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精密傳動平台</a:t>
              </a:r>
              <a:endParaRPr lang="en-US" altLang="zh-TW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 (等速移動 PCB 板)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6A05FA6C-10F4-42D0-B43F-BF6E0A0AA252}"/>
                </a:ext>
              </a:extLst>
            </p:cNvPr>
            <p:cNvSpPr/>
            <p:nvPr/>
          </p:nvSpPr>
          <p:spPr>
            <a:xfrm>
              <a:off x="830942" y="2131300"/>
              <a:ext cx="2237014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低角度環形光源</a:t>
              </a:r>
              <a:endParaRPr lang="en-US" altLang="zh-TW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 (強化表面特徵)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0D92C593-6E83-FA44-A12E-141DE323EB3E}"/>
                </a:ext>
              </a:extLst>
            </p:cNvPr>
            <p:cNvSpPr/>
            <p:nvPr/>
          </p:nvSpPr>
          <p:spPr>
            <a:xfrm>
              <a:off x="830942" y="3371437"/>
              <a:ext cx="2237014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線性掃描 CCD 相機 (48 pixels/mm 取像)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25ACDCAB-BF12-6316-FD79-D44AF169FF23}"/>
                </a:ext>
              </a:extLst>
            </p:cNvPr>
            <p:cNvSpPr/>
            <p:nvPr/>
          </p:nvSpPr>
          <p:spPr>
            <a:xfrm>
              <a:off x="546100" y="304800"/>
              <a:ext cx="2806700" cy="4140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01FD4F90-D755-B5C5-372F-A91A38415671}"/>
                </a:ext>
              </a:extLst>
            </p:cNvPr>
            <p:cNvSpPr txBox="1"/>
            <p:nvPr/>
          </p:nvSpPr>
          <p:spPr>
            <a:xfrm>
              <a:off x="1388655" y="304800"/>
              <a:ext cx="1121588" cy="538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1. </a:t>
              </a:r>
              <a:r>
                <a:rPr lang="zh-TW" altLang="zh-TW" dirty="0"/>
                <a:t>硬體取像</a:t>
              </a:r>
              <a:endParaRPr lang="en-US" altLang="zh-TW" dirty="0"/>
            </a:p>
            <a:p>
              <a:pPr algn="ctr"/>
              <a:r>
                <a:rPr lang="zh-TW" altLang="zh-TW" dirty="0"/>
                <a:t>(Hardware Imaging)</a:t>
              </a:r>
              <a:endParaRPr lang="zh-TW" altLang="en-US" dirty="0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B24219DE-8167-8AF6-2E45-561D203E3C0E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>
              <a:off x="1949449" y="1699142"/>
              <a:ext cx="0" cy="4321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5EDCB76A-03CA-CE4C-DAF6-BC953733E831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1949449" y="2923300"/>
              <a:ext cx="0" cy="4481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6274498-5377-4F72-1941-693C99525C49}"/>
              </a:ext>
            </a:extLst>
          </p:cNvPr>
          <p:cNvGrpSpPr/>
          <p:nvPr/>
        </p:nvGrpSpPr>
        <p:grpSpPr>
          <a:xfrm>
            <a:off x="6737231" y="1275986"/>
            <a:ext cx="5194036" cy="4967586"/>
            <a:chOff x="3289300" y="816394"/>
            <a:chExt cx="2806700" cy="454300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F8FD5D07-6083-9454-9B1D-D82DD1E38FAB}"/>
                </a:ext>
              </a:extLst>
            </p:cNvPr>
            <p:cNvSpPr/>
            <p:nvPr/>
          </p:nvSpPr>
          <p:spPr>
            <a:xfrm>
              <a:off x="3574142" y="1418736"/>
              <a:ext cx="2237014" cy="96886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影像預處理</a:t>
              </a:r>
              <a:endParaRPr lang="en-US" altLang="zh-TW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(模板匹配對齊、二值化去干擾)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153050E6-2A62-5392-F382-CD8EF880CCE8}"/>
                </a:ext>
              </a:extLst>
            </p:cNvPr>
            <p:cNvSpPr/>
            <p:nvPr/>
          </p:nvSpPr>
          <p:spPr>
            <a:xfrm>
              <a:off x="3574142" y="2877390"/>
              <a:ext cx="2237014" cy="96886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特徵邊緣運算</a:t>
              </a:r>
              <a:endParaRPr lang="en-US" altLang="zh-TW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(方向性相減 + 骨架交集驗證)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27EE323F-9197-F3FC-AA1D-53CD843AEDA0}"/>
                </a:ext>
              </a:extLst>
            </p:cNvPr>
            <p:cNvSpPr/>
            <p:nvPr/>
          </p:nvSpPr>
          <p:spPr>
            <a:xfrm>
              <a:off x="3574142" y="4332573"/>
              <a:ext cx="2237014" cy="792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</a:rPr>
                <a:t>檢測結果分類 (標定 Short / Open 瑕疵框)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A2033DF7-D9E8-6A2D-DB34-2068357D0184}"/>
                </a:ext>
              </a:extLst>
            </p:cNvPr>
            <p:cNvSpPr/>
            <p:nvPr/>
          </p:nvSpPr>
          <p:spPr>
            <a:xfrm>
              <a:off x="3289300" y="816394"/>
              <a:ext cx="2806700" cy="454300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A4645F4-2CA1-5780-6F3A-CC30B2A0FEFD}"/>
                </a:ext>
              </a:extLst>
            </p:cNvPr>
            <p:cNvSpPr txBox="1"/>
            <p:nvPr/>
          </p:nvSpPr>
          <p:spPr>
            <a:xfrm>
              <a:off x="4159755" y="816394"/>
              <a:ext cx="1065790" cy="591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2. </a:t>
              </a:r>
              <a:r>
                <a:rPr lang="zh-TW" altLang="zh-TW" dirty="0"/>
                <a:t>軟體分析</a:t>
              </a:r>
              <a:endParaRPr lang="en-US" altLang="zh-TW" dirty="0"/>
            </a:p>
            <a:p>
              <a:pPr algn="ctr"/>
              <a:r>
                <a:rPr lang="zh-TW" altLang="zh-TW" dirty="0"/>
                <a:t>(Software Analysis)</a:t>
              </a:r>
              <a:endParaRPr lang="zh-TW" altLang="en-US" dirty="0"/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D0588B65-416F-E72D-B337-EDF9F875523B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4692649" y="2387599"/>
              <a:ext cx="0" cy="4897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0C1E3728-2F14-21B0-381E-AEA7550359B8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4692649" y="3846253"/>
              <a:ext cx="0" cy="4863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1FB3E1-D2DD-BDB3-6C5E-32B2433C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475F-3025-55B6-7A55-343DFF1B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D3B626-E9F2-BD09-ECD3-A128125E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檢測方法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689A61B-2E61-6FB0-6905-21F31ECA03D5}"/>
              </a:ext>
            </a:extLst>
          </p:cNvPr>
          <p:cNvSpPr txBox="1"/>
          <p:nvPr/>
        </p:nvSpPr>
        <p:spPr>
          <a:xfrm>
            <a:off x="586154" y="792000"/>
            <a:ext cx="11464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zh-TW" altLang="zh-TW" dirty="0"/>
          </a:p>
          <a:p>
            <a:pPr lvl="1"/>
            <a:endParaRPr lang="zh-TW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9568C3-71E1-D5D8-E17C-38251FE16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38087"/>
              </p:ext>
            </p:extLst>
          </p:nvPr>
        </p:nvGraphicFramePr>
        <p:xfrm>
          <a:off x="586154" y="1254033"/>
          <a:ext cx="11181288" cy="4349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096">
                  <a:extLst>
                    <a:ext uri="{9D8B030D-6E8A-4147-A177-3AD203B41FA5}">
                      <a16:colId xmlns:a16="http://schemas.microsoft.com/office/drawing/2014/main" val="2009267747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2890516028"/>
                    </a:ext>
                  </a:extLst>
                </a:gridCol>
                <a:gridCol w="3727096">
                  <a:extLst>
                    <a:ext uri="{9D8B030D-6E8A-4147-A177-3AD203B41FA5}">
                      <a16:colId xmlns:a16="http://schemas.microsoft.com/office/drawing/2014/main" val="1304170180"/>
                    </a:ext>
                  </a:extLst>
                </a:gridCol>
              </a:tblGrid>
              <a:tr h="1210493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2000" b="1" dirty="0"/>
                        <a:t>FOVs 與光學取像規劃</a:t>
                      </a:r>
                      <a:endParaRPr lang="zh-TW" altLang="zh-TW" sz="2000" dirty="0"/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2000" b="1" dirty="0"/>
                        <a:t>自動化機構設計（防震與掃描）</a:t>
                      </a:r>
                      <a:endParaRPr lang="zh-TW" altLang="zh-TW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zh-TW" altLang="zh-TW" sz="2000" b="1" dirty="0"/>
                        <a:t>影像處理技術說明</a:t>
                      </a:r>
                      <a:endParaRPr lang="zh-TW" altLang="zh-TW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499403"/>
                  </a:ext>
                </a:extLst>
              </a:tr>
              <a:tr h="1396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相機與解析度：</a:t>
                      </a:r>
                      <a:r>
                        <a:rPr lang="zh-TW" altLang="en-US" sz="2000" b="0" i="0" dirty="0">
                          <a:effectLst/>
                        </a:rPr>
                        <a:t>採用線性掃描 </a:t>
                      </a:r>
                      <a:r>
                        <a:rPr lang="en-US" altLang="zh-TW" sz="2000" b="0" i="0" dirty="0">
                          <a:effectLst/>
                        </a:rPr>
                        <a:t>CCD</a:t>
                      </a:r>
                      <a:r>
                        <a:rPr lang="zh-TW" altLang="en-US" sz="2000" b="0" i="0" dirty="0">
                          <a:effectLst/>
                        </a:rPr>
                        <a:t>，實體解析度達 </a:t>
                      </a:r>
                      <a:r>
                        <a:rPr lang="en-US" altLang="zh-TW" sz="2000" b="0" i="0" dirty="0">
                          <a:effectLst/>
                        </a:rPr>
                        <a:t>48 pixels/mm</a:t>
                      </a:r>
                      <a:r>
                        <a:rPr lang="zh-TW" altLang="en-US" sz="2000" b="0" i="0" dirty="0">
                          <a:effectLst/>
                        </a:rPr>
                        <a:t>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effectLst/>
                        </a:rPr>
                        <a:t>FOV </a:t>
                      </a:r>
                      <a:r>
                        <a:rPr lang="zh-TW" altLang="en-US" sz="2000" b="1" i="0" dirty="0">
                          <a:effectLst/>
                        </a:rPr>
                        <a:t>視野範圍：</a:t>
                      </a:r>
                      <a:r>
                        <a:rPr lang="zh-TW" altLang="en-US" sz="2000" b="0" i="0" dirty="0">
                          <a:effectLst/>
                        </a:rPr>
                        <a:t>將 </a:t>
                      </a:r>
                      <a:r>
                        <a:rPr lang="en-US" altLang="zh-TW" sz="2000" b="0" i="0" dirty="0">
                          <a:effectLst/>
                        </a:rPr>
                        <a:t>16k x 16k </a:t>
                      </a:r>
                      <a:r>
                        <a:rPr lang="zh-TW" altLang="en-US" sz="2000" b="0" i="0" dirty="0">
                          <a:effectLst/>
                        </a:rPr>
                        <a:t>原始影像裁剪為 </a:t>
                      </a:r>
                      <a:r>
                        <a:rPr lang="en-US" altLang="zh-TW" sz="2000" b="0" i="0" dirty="0">
                          <a:effectLst/>
                        </a:rPr>
                        <a:t>640 x 640 </a:t>
                      </a:r>
                      <a:r>
                        <a:rPr lang="zh-TW" altLang="en-US" sz="2000" b="0" i="0" dirty="0">
                          <a:effectLst/>
                        </a:rPr>
                        <a:t>像素子影像。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打光與抗干擾：</a:t>
                      </a:r>
                      <a:r>
                        <a:rPr lang="zh-TW" altLang="en-US" sz="2000" b="0" i="0" dirty="0">
                          <a:effectLst/>
                        </a:rPr>
                        <a:t>搭配線性掃描高均勻度光源，消除環境光干擾，穩定連續取像品質。</a:t>
                      </a:r>
                    </a:p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傳動機構：</a:t>
                      </a:r>
                      <a:r>
                        <a:rPr lang="zh-TW" altLang="en-US" sz="2000" b="0" i="0" dirty="0">
                          <a:effectLst/>
                        </a:rPr>
                        <a:t>搭配高精度伺服馬達與精密滑軌，確保 </a:t>
                      </a:r>
                      <a:r>
                        <a:rPr lang="en-US" altLang="zh-TW" sz="2000" b="0" i="0" dirty="0">
                          <a:effectLst/>
                        </a:rPr>
                        <a:t>PCB </a:t>
                      </a:r>
                      <a:r>
                        <a:rPr lang="zh-TW" altLang="en-US" sz="2000" b="0" i="0" dirty="0">
                          <a:effectLst/>
                        </a:rPr>
                        <a:t>穩定且等速移動通過相機。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防震設計：</a:t>
                      </a:r>
                      <a:r>
                        <a:rPr lang="zh-TW" altLang="en-US" sz="2000" b="0" i="0" dirty="0">
                          <a:effectLst/>
                        </a:rPr>
                        <a:t>採用高剛性機構底座，消除動態連續掃描時的微小震動，防止邊緣扭曲。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影像對齊：</a:t>
                      </a:r>
                      <a:r>
                        <a:rPr lang="zh-TW" altLang="en-US" sz="2000" b="0" i="0" dirty="0">
                          <a:effectLst/>
                        </a:rPr>
                        <a:t>預先透過模板匹配技術 </a:t>
                      </a:r>
                      <a:r>
                        <a:rPr lang="en-US" altLang="zh-TW" sz="2000" b="0" i="0" dirty="0">
                          <a:effectLst/>
                        </a:rPr>
                        <a:t>(Template Matching) </a:t>
                      </a:r>
                      <a:r>
                        <a:rPr lang="zh-TW" altLang="en-US" sz="2000" b="0" i="0" dirty="0">
                          <a:effectLst/>
                        </a:rPr>
                        <a:t>完成高精度座標對齊。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二值化預處理：</a:t>
                      </a:r>
                      <a:r>
                        <a:rPr lang="zh-TW" altLang="en-US" sz="2000" b="0" i="0" dirty="0">
                          <a:effectLst/>
                        </a:rPr>
                        <a:t>精心選定門檻值 </a:t>
                      </a:r>
                      <a:r>
                        <a:rPr lang="en-US" altLang="zh-TW" sz="2000" b="0" i="0" dirty="0">
                          <a:effectLst/>
                        </a:rPr>
                        <a:t>(Threshold)</a:t>
                      </a:r>
                      <a:r>
                        <a:rPr lang="zh-TW" altLang="en-US" sz="2000" b="0" i="0" dirty="0">
                          <a:effectLst/>
                        </a:rPr>
                        <a:t>，徹底根除照明不均的影響。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i="0" dirty="0">
                          <a:effectLst/>
                        </a:rPr>
                        <a:t>瑕疵檢測邏輯：</a:t>
                      </a:r>
                      <a:r>
                        <a:rPr lang="zh-TW" altLang="en-US" sz="2000" b="0" i="0" dirty="0">
                          <a:effectLst/>
                        </a:rPr>
                        <a:t>結合方向性邊緣相減與骨架交集驗證，剔除毛刺雜訊，精準定位 </a:t>
                      </a:r>
                      <a:r>
                        <a:rPr lang="en-US" altLang="zh-TW" sz="2000" b="0" i="0" dirty="0">
                          <a:effectLst/>
                        </a:rPr>
                        <a:t>Open</a:t>
                      </a:r>
                      <a:r>
                        <a:rPr lang="zh-TW" altLang="en-US" sz="2000" b="0" i="0" dirty="0">
                          <a:effectLst/>
                        </a:rPr>
                        <a:t>（開路）與 </a:t>
                      </a:r>
                      <a:r>
                        <a:rPr lang="en-US" altLang="zh-TW" sz="2000" b="0" i="0" dirty="0">
                          <a:effectLst/>
                        </a:rPr>
                        <a:t>Short</a:t>
                      </a:r>
                      <a:r>
                        <a:rPr lang="zh-TW" altLang="en-US" sz="2000" b="0" i="0" dirty="0">
                          <a:effectLst/>
                        </a:rPr>
                        <a:t>（短路）。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24458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0EFEF3A-5A60-6821-3588-E53FCA22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30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檢測流程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2A2A6446-4302-6CCE-B8C9-7BFC8B946EEA}"/>
              </a:ext>
            </a:extLst>
          </p:cNvPr>
          <p:cNvGrpSpPr/>
          <p:nvPr/>
        </p:nvGrpSpPr>
        <p:grpSpPr>
          <a:xfrm>
            <a:off x="534219" y="1081307"/>
            <a:ext cx="3526972" cy="5250558"/>
            <a:chOff x="419919" y="803721"/>
            <a:chExt cx="3526972" cy="5250558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83FC88FE-012D-61E1-FF0E-0CCA4D36545C}"/>
                </a:ext>
              </a:extLst>
            </p:cNvPr>
            <p:cNvSpPr/>
            <p:nvPr/>
          </p:nvSpPr>
          <p:spPr>
            <a:xfrm>
              <a:off x="419919" y="803721"/>
              <a:ext cx="3526972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2400" dirty="0">
                  <a:solidFill>
                    <a:schemeClr val="tx1"/>
                  </a:solidFill>
                </a:rPr>
                <a:t>影像擷取與預處理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EABF53E7-53C9-5996-7499-87BD10B38876}"/>
                </a:ext>
              </a:extLst>
            </p:cNvPr>
            <p:cNvSpPr/>
            <p:nvPr/>
          </p:nvSpPr>
          <p:spPr>
            <a:xfrm>
              <a:off x="419919" y="1918360"/>
              <a:ext cx="3526972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2400" dirty="0">
                  <a:solidFill>
                    <a:schemeClr val="tx1"/>
                  </a:solidFill>
                </a:rPr>
                <a:t>邊緣特徵強化與提取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055E678A-8F14-4F6B-B2DD-D3308AD3F89E}"/>
                </a:ext>
              </a:extLst>
            </p:cNvPr>
            <p:cNvSpPr/>
            <p:nvPr/>
          </p:nvSpPr>
          <p:spPr>
            <a:xfrm>
              <a:off x="419919" y="3033000"/>
              <a:ext cx="3526972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2400" dirty="0">
                  <a:solidFill>
                    <a:schemeClr val="tx1"/>
                  </a:solidFill>
                </a:rPr>
                <a:t>方向性邊緣相減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EE5FEFCB-551C-FE4A-8DC2-EAFA7E739CA3}"/>
                </a:ext>
              </a:extLst>
            </p:cNvPr>
            <p:cNvSpPr/>
            <p:nvPr/>
          </p:nvSpPr>
          <p:spPr>
            <a:xfrm>
              <a:off x="419919" y="4147640"/>
              <a:ext cx="3526972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2400" dirty="0">
                  <a:solidFill>
                    <a:schemeClr val="tx1"/>
                  </a:solidFill>
                </a:rPr>
                <a:t>形態學過濾與骨架驗證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59F6B0C7-74FE-2D75-7611-05EC32F75196}"/>
                </a:ext>
              </a:extLst>
            </p:cNvPr>
            <p:cNvSpPr/>
            <p:nvPr/>
          </p:nvSpPr>
          <p:spPr>
            <a:xfrm>
              <a:off x="419919" y="5262279"/>
              <a:ext cx="3526972" cy="792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sz="2400" dirty="0">
                  <a:solidFill>
                    <a:schemeClr val="tx1"/>
                  </a:solidFill>
                </a:rPr>
                <a:t>瑕疵聚類與結果輸出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BC7754-9CB0-6225-0D3F-1DA1F236B370}"/>
              </a:ext>
            </a:extLst>
          </p:cNvPr>
          <p:cNvSpPr txBox="1"/>
          <p:nvPr/>
        </p:nvSpPr>
        <p:spPr>
          <a:xfrm>
            <a:off x="4339318" y="1154141"/>
            <a:ext cx="7318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將全彩影像轉為單通道灰階，並施加高斯低通濾波平滑化影像表面的微小雜訊，防止產出偽邊緣。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4AD1808-A80D-FE20-90CD-6792AD18F751}"/>
              </a:ext>
            </a:extLst>
          </p:cNvPr>
          <p:cNvSpPr txBox="1"/>
          <p:nvPr/>
        </p:nvSpPr>
        <p:spPr>
          <a:xfrm>
            <a:off x="4339317" y="2130280"/>
            <a:ext cx="7318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利用自適應二值化 (Binarization) 將影像轉換為特徵明確的黑白遮罩，並透過形態學膨脹 (Dilation) 建立邊緣容許誤差範圍，以利後續的邏輯相減。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2B2350C-DFF6-38E1-AE0C-6EF71A5E3E22}"/>
                  </a:ext>
                </a:extLst>
              </p:cNvPr>
              <p:cNvSpPr txBox="1"/>
              <p:nvPr/>
            </p:nvSpPr>
            <p:spPr>
              <a:xfrm>
                <a:off x="4339318" y="3383420"/>
                <a:ext cx="73184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𝑇𝑒𝑠𝑡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𝑇𝑒𝑚𝑝𝑙𝑎𝑡𝑒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zh-TW" dirty="0"/>
                  <a:t>若殘留像素判定為短路 (多出的邊緣)；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𝑇𝑒𝑚𝑝𝑙𝑎𝑡𝑒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𝑇𝑒𝑠𝑡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zh-TW" altLang="zh-TW" dirty="0"/>
                  <a:t>若殘留像素判定為開路 (缺失的邊緣)。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2B2350C-DFF6-38E1-AE0C-6EF71A5E3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318" y="3383420"/>
                <a:ext cx="7318462" cy="646331"/>
              </a:xfrm>
              <a:prstGeom prst="rect">
                <a:avLst/>
              </a:prstGeom>
              <a:blipFill>
                <a:blip r:embed="rId2"/>
                <a:stretch>
                  <a:fillRect l="-250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A14F5C-099D-1595-F8A1-ADD76208965A}"/>
              </a:ext>
            </a:extLst>
          </p:cNvPr>
          <p:cNvSpPr txBox="1"/>
          <p:nvPr/>
        </p:nvSpPr>
        <p:spPr>
          <a:xfrm>
            <a:off x="4339317" y="4359561"/>
            <a:ext cx="7318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執行開運算 (Opening) 消除細微對位雜訊，並利用骨架交集驗證，確認短路有跨越背景骨架、開路有跨越走線骨架，藉此濾除毛刺與殘銅。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2A567C-0DF6-CE96-5130-2CD907454929}"/>
              </a:ext>
            </a:extLst>
          </p:cNvPr>
          <p:cNvSpPr txBox="1"/>
          <p:nvPr/>
        </p:nvSpPr>
        <p:spPr>
          <a:xfrm>
            <a:off x="4339318" y="5612701"/>
            <a:ext cx="7318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對殘留像素進行連通域分析，計算面積若大於安全容忍值即判定為真實瑕疵，並提取 BoundingBox 繪製警示框標示。</a:t>
            </a:r>
            <a:endParaRPr lang="zh-TW" alt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667524E-D8B9-E8A2-AA29-89A663E179F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297705" y="1873307"/>
            <a:ext cx="0" cy="322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CCCBED36-20ED-9208-F461-3E6C417604B2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297705" y="2987946"/>
            <a:ext cx="0" cy="32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C8C3340-2B7F-30BC-E2DD-EC29D50C389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297705" y="4102586"/>
            <a:ext cx="0" cy="32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EA615A2-0393-7C03-7A40-33C6340F345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297705" y="5217226"/>
            <a:ext cx="0" cy="322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55EFBE-9464-6F66-8623-03E4B73E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39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影像處理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919FCE9-F578-8288-86B9-38D7EB52B184}"/>
              </a:ext>
            </a:extLst>
          </p:cNvPr>
          <p:cNvSpPr txBox="1"/>
          <p:nvPr/>
        </p:nvSpPr>
        <p:spPr>
          <a:xfrm>
            <a:off x="583293" y="792000"/>
            <a:ext cx="11025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程式碼來源說明：</a:t>
            </a:r>
            <a:r>
              <a:rPr lang="zh-TW" altLang="zh-TW" dirty="0"/>
              <a:t> 核心演算法 (距離轉換尺度與骨架交集驗證) 為</a:t>
            </a:r>
            <a:r>
              <a:rPr lang="zh-TW" altLang="zh-TW" b="1" dirty="0"/>
              <a:t>自行撰寫</a:t>
            </a:r>
            <a:r>
              <a:rPr lang="zh-TW" altLang="zh-TW" dirty="0"/>
              <a:t> ；影像讀取與路徑篩選架構參考 MATLAB 官方 Image Processing Toolbox 說明文件，檢測圖檔取自 DeepPCB 開源資料集 。 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EA3266-C98C-3CF9-D08F-6922CCC824B5}"/>
              </a:ext>
            </a:extLst>
          </p:cNvPr>
          <p:cNvSpPr/>
          <p:nvPr/>
        </p:nvSpPr>
        <p:spPr>
          <a:xfrm>
            <a:off x="583293" y="2003997"/>
            <a:ext cx="8405132" cy="17961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讀取良品與待測原圖並轉為灰階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temp_img = imread(valid_files{k}.temp);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test_img = imread(valid_files{k}.test);</a:t>
            </a: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二值化並反轉，使特徵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銅箔走線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為白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(1)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，背景為黑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(0)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temp_bw = ~imbinarize(temp_img); 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test_bw = ~imbinarize(test_img);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84BA59-747E-3723-0E2F-D35155C81428}"/>
              </a:ext>
            </a:extLst>
          </p:cNvPr>
          <p:cNvSpPr/>
          <p:nvPr/>
        </p:nvSpPr>
        <p:spPr>
          <a:xfrm>
            <a:off x="583293" y="4365806"/>
            <a:ext cx="8405132" cy="20682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% 建立膨脹結構元素 (容許微小物理位移誤差) 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tol_short = strel('disk', 3);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temp_fat = imdilate(temp_bw, tol_short);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% 待測圖減去膨脹後的良品圖：若殘留白點則為「多出的邊緣 (Short)」 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diff_short = test_bw &amp; ~temp_fat;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% 執行開運算 (Opening) 消除細微對位雜訊 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clean_short = imopen(diff_short, se);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9D73F42-FE91-5C14-B18A-483C7B2C570E}"/>
              </a:ext>
            </a:extLst>
          </p:cNvPr>
          <p:cNvSpPr txBox="1"/>
          <p:nvPr/>
        </p:nvSpPr>
        <p:spPr>
          <a:xfrm>
            <a:off x="583292" y="1603887"/>
            <a:ext cx="60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b="1" dirty="0"/>
              <a:t>檢測目標影像輸入與預處理 </a:t>
            </a:r>
            <a:r>
              <a:rPr lang="en-US" altLang="zh-TW" sz="2000" b="1" dirty="0"/>
              <a:t>(Image Input):</a:t>
            </a:r>
            <a:endParaRPr lang="zh-TW" altLang="en-US" sz="20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6D8ACFB-E875-34D5-EE91-F3E0F0265F11}"/>
              </a:ext>
            </a:extLst>
          </p:cNvPr>
          <p:cNvSpPr txBox="1"/>
          <p:nvPr/>
        </p:nvSpPr>
        <p:spPr>
          <a:xfrm>
            <a:off x="583294" y="3965696"/>
            <a:ext cx="8405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TW" altLang="zh-TW" sz="2000" b="1" dirty="0"/>
              <a:t>影像處理：方向性邊緣相減 (Directional Subtraction)</a:t>
            </a:r>
            <a:r>
              <a:rPr lang="en-US" altLang="zh-TW" sz="2000" b="1" dirty="0"/>
              <a:t>:</a:t>
            </a:r>
            <a:endParaRPr lang="zh-TW" altLang="en-US" sz="2000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99FE2C-0CC7-E18C-8C6E-09B1D41E51A2}"/>
              </a:ext>
            </a:extLst>
          </p:cNvPr>
          <p:cNvSpPr txBox="1"/>
          <p:nvPr/>
        </p:nvSpPr>
        <p:spPr>
          <a:xfrm>
            <a:off x="8988425" y="2003997"/>
            <a:ext cx="3203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註解說明：</a:t>
            </a:r>
            <a:r>
              <a:rPr lang="zh-TW" altLang="zh-TW" dirty="0"/>
              <a:t> 將實體影像數據轉換為 0 與 1 的邏輯矩陣。 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CE57335-D497-4F49-2B0F-6AE37DDBBA0B}"/>
              </a:ext>
            </a:extLst>
          </p:cNvPr>
          <p:cNvSpPr txBox="1"/>
          <p:nvPr/>
        </p:nvSpPr>
        <p:spPr>
          <a:xfrm>
            <a:off x="8988425" y="4365806"/>
            <a:ext cx="32035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註解說明： </a:t>
            </a:r>
            <a:r>
              <a:rPr lang="zh-TW" altLang="en-US" dirty="0"/>
              <a:t>捨棄傳統絕對值相減，利用邏輯運算元 </a:t>
            </a:r>
            <a:r>
              <a:rPr lang="en-US" altLang="zh-TW" dirty="0"/>
              <a:t>&amp; ~ </a:t>
            </a:r>
            <a:r>
              <a:rPr lang="zh-TW" altLang="en-US" dirty="0"/>
              <a:t>搭配膨脹 </a:t>
            </a:r>
            <a:r>
              <a:rPr lang="en-US" altLang="zh-TW" dirty="0"/>
              <a:t>(</a:t>
            </a:r>
            <a:r>
              <a:rPr lang="en-US" altLang="zh-TW" dirty="0" err="1"/>
              <a:t>imdilate</a:t>
            </a:r>
            <a:r>
              <a:rPr lang="en-US" altLang="zh-TW" dirty="0"/>
              <a:t>)</a:t>
            </a:r>
            <a:r>
              <a:rPr lang="zh-TW" altLang="zh-TW" dirty="0"/>
              <a:t> （短路容許 3 像素偏移，斷路容許 2 像素偏移）</a:t>
            </a:r>
            <a:r>
              <a:rPr lang="zh-TW" altLang="en-US" dirty="0"/>
              <a:t>，抓出非預期的凸出特徵 。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9796EA-FF75-B190-08AB-E880E2E0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64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B348-5D4E-CD12-8084-A4DF44284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0190B-5B27-1798-F51B-A0506AED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影像處理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4383EB-0A99-3D29-FA01-E51FF96DBEEB}"/>
              </a:ext>
            </a:extLst>
          </p:cNvPr>
          <p:cNvSpPr/>
          <p:nvPr/>
        </p:nvSpPr>
        <p:spPr>
          <a:xfrm>
            <a:off x="655863" y="1360714"/>
            <a:ext cx="7674429" cy="20682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取得背景的中心線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骨架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skel_bg = bwskel(~temp_bw);</a:t>
            </a: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真正的短路一定會跨越背景中心線，找出兩者交集點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overlap_short = clean_short &amp; skel_bg; </a:t>
            </a: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透過交集點，利用影像重建還原出真正短路的完整區塊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clean_short = imreconstruct(overlap_short, clean_short);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F7C1C-3349-8CFC-F599-C2A51D8E45F8}"/>
              </a:ext>
            </a:extLst>
          </p:cNvPr>
          <p:cNvSpPr/>
          <p:nvPr/>
        </p:nvSpPr>
        <p:spPr>
          <a:xfrm>
            <a:off x="655863" y="4141307"/>
            <a:ext cx="7674429" cy="20682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連通域分析，計算剩餘真實瑕疵的幾何特徵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cc_short = bwconncomp(clean_short);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stats_short = regionprops(cc_short, 'BoundingBox', 'Area');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%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在原圖上提取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BoundingBox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座標繪製紅色警示框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rectangle('Position', stats_short(</a:t>
            </a:r>
            <a:r>
              <a:rPr lang="en-US" altLang="zh-TW" dirty="0" err="1">
                <a:solidFill>
                  <a:schemeClr val="tx1"/>
                </a:solidFill>
              </a:rPr>
              <a:t>i</a:t>
            </a:r>
            <a:r>
              <a:rPr lang="en-US" altLang="zh-TW" dirty="0">
                <a:solidFill>
                  <a:schemeClr val="tx1"/>
                </a:solidFill>
              </a:rPr>
              <a:t>).BoundingBox, '</a:t>
            </a:r>
            <a:r>
              <a:rPr lang="en-US" altLang="zh-TW" dirty="0" err="1">
                <a:solidFill>
                  <a:schemeClr val="tx1"/>
                </a:solidFill>
              </a:rPr>
              <a:t>EdgeColor</a:t>
            </a:r>
            <a:r>
              <a:rPr lang="en-US" altLang="zh-TW" dirty="0">
                <a:solidFill>
                  <a:schemeClr val="tx1"/>
                </a:solidFill>
              </a:rPr>
              <a:t>', 'r', '</a:t>
            </a:r>
            <a:r>
              <a:rPr lang="en-US" altLang="zh-TW" dirty="0" err="1">
                <a:solidFill>
                  <a:schemeClr val="tx1"/>
                </a:solidFill>
              </a:rPr>
              <a:t>LineWidth</a:t>
            </a:r>
            <a:r>
              <a:rPr lang="en-US" altLang="zh-TW" dirty="0">
                <a:solidFill>
                  <a:schemeClr val="tx1"/>
                </a:solidFill>
              </a:rPr>
              <a:t>', 2);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text(..., 'Short', 'Color', 'r');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808737-5A3B-C28B-A82B-012A0FD2B226}"/>
              </a:ext>
            </a:extLst>
          </p:cNvPr>
          <p:cNvSpPr txBox="1"/>
          <p:nvPr/>
        </p:nvSpPr>
        <p:spPr>
          <a:xfrm>
            <a:off x="655863" y="960604"/>
            <a:ext cx="7279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TW" altLang="en-US" sz="2000" b="1" dirty="0"/>
              <a:t>影像處理：骨架交集驗證 </a:t>
            </a:r>
            <a:r>
              <a:rPr lang="en-US" altLang="zh-TW" sz="2000" b="1" dirty="0"/>
              <a:t>(Skeleton Validation)</a:t>
            </a:r>
            <a:endParaRPr lang="zh-TW" altLang="en-US" sz="2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77C5964-CB5A-8E33-6274-A4CDD8DA0C3B}"/>
              </a:ext>
            </a:extLst>
          </p:cNvPr>
          <p:cNvSpPr txBox="1"/>
          <p:nvPr/>
        </p:nvSpPr>
        <p:spPr>
          <a:xfrm>
            <a:off x="655863" y="374119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zh-TW" altLang="en-US" sz="2000" b="1" dirty="0"/>
              <a:t>影像輸出與視覺化標定 </a:t>
            </a:r>
            <a:r>
              <a:rPr lang="en-US" altLang="zh-TW" sz="2000" b="1" dirty="0"/>
              <a:t>(Image Output)</a:t>
            </a:r>
            <a:endParaRPr lang="zh-TW" altLang="en-US" sz="20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FEC78B-756B-AAA4-8B0D-916A0FC92700}"/>
              </a:ext>
            </a:extLst>
          </p:cNvPr>
          <p:cNvSpPr txBox="1"/>
          <p:nvPr/>
        </p:nvSpPr>
        <p:spPr>
          <a:xfrm>
            <a:off x="8330292" y="1360714"/>
            <a:ext cx="38617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註解說明： </a:t>
            </a:r>
            <a:r>
              <a:rPr lang="zh-TW" altLang="en-US" dirty="0"/>
              <a:t>為過濾毛刺雜訊</a:t>
            </a:r>
            <a:r>
              <a:rPr lang="zh-TW" altLang="en-US" b="1" dirty="0"/>
              <a:t>最關鍵</a:t>
            </a:r>
            <a:r>
              <a:rPr lang="zh-TW" altLang="en-US" dirty="0"/>
              <a:t>的步驟。</a:t>
            </a:r>
            <a:r>
              <a:rPr lang="zh-TW" altLang="zh-TW" dirty="0"/>
              <a:t>程式擷取「背景的中心線 (skel_bg)」，並讓疑似短路的特徵與其找交集 。只有確實</a:t>
            </a:r>
            <a:r>
              <a:rPr lang="zh-TW" altLang="zh-TW" dirty="0">
                <a:solidFill>
                  <a:srgbClr val="FF0000"/>
                </a:solidFill>
              </a:rPr>
              <a:t>觸碰到背景中心的特徵，才會透過形態學重建 </a:t>
            </a:r>
            <a:r>
              <a:rPr lang="zh-TW" altLang="zh-TW" dirty="0"/>
              <a:t>(imreconstruct) 還原下來</a:t>
            </a:r>
            <a:r>
              <a:rPr lang="zh-TW" altLang="en-US" dirty="0"/>
              <a:t>，斷路同理，只是改為走線的中心線</a:t>
            </a:r>
            <a:r>
              <a:rPr lang="zh-TW" altLang="zh-TW" dirty="0"/>
              <a:t>。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9CEB0D1-28D8-CFB2-847D-6FBCC7667388}"/>
              </a:ext>
            </a:extLst>
          </p:cNvPr>
          <p:cNvSpPr txBox="1"/>
          <p:nvPr/>
        </p:nvSpPr>
        <p:spPr>
          <a:xfrm>
            <a:off x="8330292" y="4141307"/>
            <a:ext cx="3861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註解說明： </a:t>
            </a:r>
            <a:r>
              <a:rPr lang="zh-TW" altLang="en-US" dirty="0"/>
              <a:t>將數學矩陣分析結果轉化為直觀的視覺回饋，精準框選出瑕疵位置並標記分類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9F87B0-44D5-6240-4F54-F194F226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228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CBF1-CB26-1882-2A48-9280F3FC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1E7380-BED5-0DD7-30CB-C1408C8B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檢測結果</a:t>
            </a:r>
            <a:r>
              <a:rPr lang="en-US" altLang="zh-TW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endParaRPr lang="zh-TW" altLang="en-US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601B08-0EB3-7619-1C7D-E7ACC0EAF52F}"/>
              </a:ext>
            </a:extLst>
          </p:cNvPr>
          <p:cNvSpPr txBox="1"/>
          <p:nvPr/>
        </p:nvSpPr>
        <p:spPr>
          <a:xfrm>
            <a:off x="285260" y="1003439"/>
            <a:ext cx="11621473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/>
              <a:t>檢測過程說明：</a:t>
            </a:r>
            <a:endParaRPr lang="en-US" altLang="zh-TW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b="1" dirty="0"/>
              <a:t>Template (</a:t>
            </a:r>
            <a:r>
              <a:rPr lang="zh-TW" altLang="en-US" b="1" dirty="0"/>
              <a:t>標準良品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系統讀取無瑕疵的標準 </a:t>
            </a:r>
            <a:r>
              <a:rPr lang="en-US" altLang="zh-TW" dirty="0"/>
              <a:t>PCB </a:t>
            </a:r>
            <a:r>
              <a:rPr lang="zh-TW" altLang="en-US" dirty="0"/>
              <a:t>影像，建立後續比對與距離轉換的幾何空間基準。 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b="1" dirty="0"/>
              <a:t>Test Image (</a:t>
            </a:r>
            <a:r>
              <a:rPr lang="zh-TW" altLang="en-US" b="1" dirty="0"/>
              <a:t>瑕疵原圖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輸入含有未知缺陷的實際待測影像。  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b="1" dirty="0"/>
              <a:t>Defect Mask (</a:t>
            </a:r>
            <a:r>
              <a:rPr lang="zh-TW" altLang="en-US" b="1" dirty="0"/>
              <a:t>二值化遮罩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影像經由方向性邊緣相減與骨架交集驗證處理後，成功濾除正常走線與對位雜訊。圖中純黑背景上僅保留了經過驗證的瑕疵白色像素區塊。</a:t>
            </a:r>
            <a:endParaRPr lang="en-US" altLang="zh-TW" dirty="0"/>
          </a:p>
          <a:p>
            <a:r>
              <a:rPr lang="zh-TW" altLang="en-US" sz="2000" b="1" dirty="0"/>
              <a:t>最後結果圖片說明：</a:t>
            </a:r>
            <a:endParaRPr lang="en-US" altLang="zh-TW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b="1" dirty="0"/>
              <a:t>Detection (</a:t>
            </a:r>
            <a:r>
              <a:rPr lang="zh-TW" altLang="en-US" b="1" dirty="0"/>
              <a:t>結果標定</a:t>
            </a:r>
            <a:r>
              <a:rPr lang="en-US" altLang="zh-TW" b="1" dirty="0"/>
              <a:t>)</a:t>
            </a:r>
            <a:r>
              <a:rPr lang="zh-TW" altLang="en-US" b="1" dirty="0"/>
              <a:t>：</a:t>
            </a:r>
            <a:r>
              <a:rPr lang="zh-TW" altLang="en-US" dirty="0"/>
              <a:t>由 </a:t>
            </a:r>
            <a:r>
              <a:rPr lang="en-US" altLang="zh-TW" dirty="0"/>
              <a:t>4 </a:t>
            </a:r>
            <a:r>
              <a:rPr lang="zh-TW" altLang="en-US" dirty="0"/>
              <a:t>張不同的檢測結果可見，系統皆能鎖定並繪製 </a:t>
            </a:r>
            <a:r>
              <a:rPr lang="en-US" altLang="zh-TW" dirty="0"/>
              <a:t>Bounding Box </a:t>
            </a:r>
            <a:r>
              <a:rPr lang="zh-TW" altLang="en-US" dirty="0"/>
              <a:t>警示框。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分類標示：</a:t>
            </a:r>
            <a:r>
              <a:rPr lang="zh-TW" altLang="en-US" dirty="0"/>
              <a:t>系統精準將非預期導通的缺陷框選並標示為</a:t>
            </a:r>
            <a:r>
              <a:rPr lang="en-US" altLang="zh-TW" dirty="0"/>
              <a:t>”</a:t>
            </a:r>
            <a:r>
              <a:rPr lang="zh-TW" altLang="en-US" dirty="0"/>
              <a:t>紅色 </a:t>
            </a:r>
            <a:r>
              <a:rPr lang="en-US" altLang="zh-TW" dirty="0"/>
              <a:t>Short”</a:t>
            </a:r>
            <a:r>
              <a:rPr lang="zh-TW" altLang="en-US" dirty="0"/>
              <a:t>；將走線缺口與斷裂的缺陷框選並標示為</a:t>
            </a:r>
            <a:r>
              <a:rPr lang="en-US" altLang="zh-TW" dirty="0"/>
              <a:t>”</a:t>
            </a:r>
            <a:r>
              <a:rPr lang="zh-TW" altLang="en-US" dirty="0"/>
              <a:t>藍色 </a:t>
            </a:r>
            <a:r>
              <a:rPr lang="en-US" altLang="zh-TW" dirty="0"/>
              <a:t>Open”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C7116F-0864-F54C-7C35-2E52397CF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7" y="3927316"/>
            <a:ext cx="11920598" cy="28587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0E83A5-2FAB-0405-A393-6DE5CAD4F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50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1B2E-2BFB-9B44-603B-289596CE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2369B-82AB-1D4C-3141-40870774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檢測結果</a:t>
            </a:r>
            <a:r>
              <a:rPr lang="en-US" altLang="zh-TW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-2</a:t>
            </a:r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F9C3221-E27E-80F1-6DB0-8369F3851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9" y="792000"/>
            <a:ext cx="11920598" cy="290820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9C6EA8E-EB56-A101-7828-AC4D15D73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4333"/>
            <a:ext cx="12125722" cy="2862322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6F0E94A-2BDB-F96B-AC33-21717D5B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55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專題應用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2BEF51B-FAA6-51E3-8744-F6BA7F0A93C7}"/>
              </a:ext>
            </a:extLst>
          </p:cNvPr>
          <p:cNvSpPr txBox="1"/>
          <p:nvPr/>
        </p:nvSpPr>
        <p:spPr>
          <a:xfrm>
            <a:off x="527957" y="792000"/>
            <a:ext cx="111360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可應用之</a:t>
            </a:r>
            <a:r>
              <a:rPr lang="zh-TW" altLang="zh-TW" sz="2400" dirty="0"/>
              <a:t>其他場域：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2400" b="1" dirty="0"/>
              <a:t>半導體封裝與引腳檢測：</a:t>
            </a:r>
            <a:r>
              <a:rPr lang="zh-TW" altLang="zh-TW" sz="2400" dirty="0"/>
              <a:t>應用此「方向性相減與骨架驗證」技術，可檢查 IC 晶片微小接腳 (Pins) 之間是否發生焊錫溢流導致的「錫橋 (短路)」或引腳折斷的「缺件 (開路)」。  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2400" b="1" dirty="0"/>
              <a:t>面板顯示器 (LCD/OLED) 製程：</a:t>
            </a:r>
            <a:r>
              <a:rPr lang="zh-TW" altLang="zh-TW" sz="2400" dirty="0"/>
              <a:t>玻璃基板上的微細透明導電膜 (ITO 電極) 極易因微塵產生斷線或短路。利用本專案之邊緣對位演算法，可實現高精度的面板走線瑕疵光學檢測。 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2400" b="1" dirty="0"/>
              <a:t>精密金屬沖壓件外觀檢驗：</a:t>
            </a:r>
            <a:r>
              <a:rPr lang="zh-TW" altLang="zh-TW" sz="2400" dirty="0"/>
              <a:t>檢測金屬零件幾何邊緣是否有沖壓模具損耗導致的「多料 (類似Short 凸出)」或「缺角斷裂 (類似Open 凹陷)」。</a:t>
            </a:r>
            <a:endParaRPr lang="zh-TW" altLang="en-US" sz="2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430274-AABB-95D0-9C34-2D5221CB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3064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專題製作與課程相關知識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AF1545F1-4BA5-0E73-DD1E-3A64A73D9885}"/>
              </a:ext>
            </a:extLst>
          </p:cNvPr>
          <p:cNvGrpSpPr/>
          <p:nvPr/>
        </p:nvGrpSpPr>
        <p:grpSpPr>
          <a:xfrm>
            <a:off x="163283" y="792000"/>
            <a:ext cx="5785759" cy="2637000"/>
            <a:chOff x="163283" y="792000"/>
            <a:chExt cx="5785759" cy="2637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61B11AD-3B90-4E3F-DC5F-2100A0DD9F9F}"/>
                </a:ext>
              </a:extLst>
            </p:cNvPr>
            <p:cNvSpPr/>
            <p:nvPr/>
          </p:nvSpPr>
          <p:spPr>
            <a:xfrm>
              <a:off x="163285" y="792000"/>
              <a:ext cx="5785757" cy="263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31C58FD-E2D4-1E07-BB37-57221F7996E7}"/>
                </a:ext>
              </a:extLst>
            </p:cNvPr>
            <p:cNvSpPr txBox="1"/>
            <p:nvPr/>
          </p:nvSpPr>
          <p:spPr>
            <a:xfrm>
              <a:off x="163283" y="792000"/>
              <a:ext cx="5785757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1" dirty="0"/>
                <a:t>光學取像與硬體規格</a:t>
              </a:r>
              <a:endParaRPr lang="en-US" altLang="zh-TW" sz="2400" b="1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/>
                <a:t>專題實作：</a:t>
              </a:r>
              <a:r>
                <a:rPr lang="zh-TW" altLang="zh-TW" sz="2000" dirty="0"/>
                <a:t>採 48 px/mm 線性掃描 CCD 搭配高均勻度照明 。 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/>
                <a:t>課程對應：</a:t>
              </a:r>
              <a:r>
                <a:rPr lang="zh-TW" altLang="zh-TW" sz="2000" dirty="0"/>
                <a:t> </a:t>
              </a:r>
              <a:endParaRPr lang="en-US" altLang="zh-TW" sz="20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zh-TW" sz="2000" b="1" dirty="0"/>
                <a:t>線掃描系統：</a:t>
              </a:r>
              <a:r>
                <a:rPr lang="zh-TW" altLang="zh-TW" sz="2000" dirty="0"/>
                <a:t> 適合連續移動物件之高解析檢測 。</a:t>
              </a:r>
              <a:endParaRPr lang="en-US" altLang="zh-TW" sz="20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TW" altLang="zh-TW" sz="2000" b="1" dirty="0"/>
                <a:t>照明設計：</a:t>
              </a:r>
              <a:r>
                <a:rPr lang="zh-TW" altLang="zh-TW" sz="2000" dirty="0"/>
                <a:t> 凸顯高反差特徵，降低軟體運算難度 。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AF959108-B83E-AF44-9804-53C6ECB5A141}"/>
              </a:ext>
            </a:extLst>
          </p:cNvPr>
          <p:cNvGrpSpPr/>
          <p:nvPr/>
        </p:nvGrpSpPr>
        <p:grpSpPr>
          <a:xfrm>
            <a:off x="163283" y="3654942"/>
            <a:ext cx="5785759" cy="2637000"/>
            <a:chOff x="163283" y="3654942"/>
            <a:chExt cx="5785759" cy="26370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447EA3-CF33-1C37-A340-F3B55DB8C137}"/>
                </a:ext>
              </a:extLst>
            </p:cNvPr>
            <p:cNvSpPr/>
            <p:nvPr/>
          </p:nvSpPr>
          <p:spPr>
            <a:xfrm>
              <a:off x="163285" y="3654942"/>
              <a:ext cx="5785757" cy="263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5ABDD20-7356-1FEE-175B-491F9C562AC7}"/>
                </a:ext>
              </a:extLst>
            </p:cNvPr>
            <p:cNvSpPr txBox="1"/>
            <p:nvPr/>
          </p:nvSpPr>
          <p:spPr>
            <a:xfrm>
              <a:off x="163283" y="3654942"/>
              <a:ext cx="578575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1" dirty="0"/>
                <a:t>影像對位與門檻化前處理</a:t>
              </a:r>
              <a:endParaRPr lang="en-US" altLang="zh-TW" sz="2400" b="1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en-US" sz="2000" b="1" dirty="0"/>
                <a:t>專題實作： </a:t>
              </a:r>
              <a:r>
                <a:rPr lang="zh-TW" altLang="en-US" sz="2000" dirty="0"/>
                <a:t>模板匹配 </a:t>
              </a:r>
              <a:r>
                <a:rPr lang="en-US" altLang="zh-TW" sz="2000" dirty="0"/>
                <a:t>(Template Matching) </a:t>
              </a:r>
              <a:r>
                <a:rPr lang="zh-TW" altLang="en-US" sz="2000" dirty="0"/>
                <a:t>裁切對位，並採自適應二值化 </a:t>
              </a:r>
              <a:r>
                <a:rPr lang="en-US" altLang="zh-TW" sz="2000" dirty="0"/>
                <a:t>(Binarization) </a:t>
              </a:r>
              <a:r>
                <a:rPr lang="zh-TW" altLang="en-US" sz="2000" dirty="0"/>
                <a:t>。 </a:t>
              </a:r>
              <a:endParaRPr lang="en-US" altLang="zh-TW" sz="20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en-US" sz="2000" b="1" dirty="0"/>
                <a:t>課程對應：</a:t>
              </a:r>
              <a:endParaRPr lang="en-US" altLang="zh-TW" sz="2000" b="1" dirty="0"/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en-US" sz="2000" b="1" dirty="0"/>
                <a:t>影像匹配： </a:t>
              </a:r>
              <a:r>
                <a:rPr lang="zh-TW" altLang="en-US" sz="2000" dirty="0"/>
                <a:t>建立樣板模型進行精準定位 。</a:t>
              </a:r>
              <a:endParaRPr lang="en-US" altLang="zh-TW" sz="2000" dirty="0"/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en-US" sz="2000" b="1" dirty="0"/>
                <a:t>影像分割 </a:t>
              </a:r>
              <a:r>
                <a:rPr lang="en-US" altLang="zh-TW" sz="2000" b="1" dirty="0"/>
                <a:t>(</a:t>
              </a:r>
              <a:r>
                <a:rPr lang="zh-TW" altLang="en-US" sz="2000" b="1" dirty="0"/>
                <a:t>門檻化</a:t>
              </a:r>
              <a:r>
                <a:rPr lang="en-US" altLang="zh-TW" sz="2000" b="1" dirty="0"/>
                <a:t>)</a:t>
              </a:r>
              <a:r>
                <a:rPr lang="zh-TW" altLang="en-US" sz="2000" b="1" dirty="0"/>
                <a:t>： </a:t>
              </a:r>
              <a:r>
                <a:rPr lang="zh-TW" altLang="en-US" sz="2000" dirty="0"/>
                <a:t>依灰階門檻分離前景走線與背景 。</a:t>
              </a:r>
              <a:r>
                <a:rPr lang="zh-TW" altLang="en-US" dirty="0"/>
                <a:t> </a:t>
              </a: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B887E298-B615-DEB2-9DB1-346FF09C84FA}"/>
              </a:ext>
            </a:extLst>
          </p:cNvPr>
          <p:cNvGrpSpPr/>
          <p:nvPr/>
        </p:nvGrpSpPr>
        <p:grpSpPr>
          <a:xfrm>
            <a:off x="6242958" y="792000"/>
            <a:ext cx="5785759" cy="2637000"/>
            <a:chOff x="6242958" y="792000"/>
            <a:chExt cx="5785759" cy="2637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06D96CD-AAEB-519A-014C-498625F8FBE1}"/>
                </a:ext>
              </a:extLst>
            </p:cNvPr>
            <p:cNvSpPr/>
            <p:nvPr/>
          </p:nvSpPr>
          <p:spPr>
            <a:xfrm>
              <a:off x="6242960" y="792000"/>
              <a:ext cx="5785757" cy="263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1BDB8BC-F118-AEBA-F7EB-21A20C4ED5A6}"/>
                </a:ext>
              </a:extLst>
            </p:cNvPr>
            <p:cNvSpPr txBox="1"/>
            <p:nvPr/>
          </p:nvSpPr>
          <p:spPr>
            <a:xfrm>
              <a:off x="6242958" y="792000"/>
              <a:ext cx="5785757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TW" altLang="zh-TW" sz="2400" b="1" dirty="0">
                  <a:effectLst/>
                  <a:latin typeface="Google Sans"/>
                </a:rPr>
                <a:t>形態學容錯與骨幹驗證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>
                  <a:effectLst/>
                  <a:latin typeface="Google Sans Text"/>
                </a:rPr>
                <a:t>專題實作：</a:t>
              </a:r>
              <a:r>
                <a:rPr lang="zh-TW" altLang="zh-TW" sz="2000" dirty="0">
                  <a:effectLst/>
                  <a:latin typeface="Google Sans Text"/>
                </a:rPr>
                <a:t>利用膨脹 (Dilation) 建立邊緣容錯，並提取骨架 (Skeleton) 進行交集重建驗證 。 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>
                  <a:effectLst/>
                  <a:latin typeface="Google Sans Text"/>
                </a:rPr>
                <a:t>課程對應：</a:t>
              </a:r>
              <a:endParaRPr lang="en-US" altLang="zh-TW" sz="2000" b="1" dirty="0">
                <a:latin typeface="Google Sans Text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zh-TW" sz="2000" b="1" dirty="0">
                  <a:effectLst/>
                  <a:latin typeface="Google Sans Text"/>
                </a:rPr>
                <a:t>形態學運算：</a:t>
              </a:r>
              <a:r>
                <a:rPr lang="zh-TW" altLang="zh-TW" sz="2000" dirty="0">
                  <a:effectLst/>
                  <a:latin typeface="Google Sans Text"/>
                </a:rPr>
                <a:t> 藉由膨脹填補空隙並吸收微小物理位移誤差 。 </a:t>
              </a:r>
              <a:endParaRPr lang="en-US" altLang="zh-TW" sz="2000" dirty="0">
                <a:effectLst/>
                <a:latin typeface="Google Sans Text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zh-TW" sz="2000" b="1" dirty="0">
                  <a:effectLst/>
                  <a:latin typeface="Google Sans Text"/>
                </a:rPr>
                <a:t>骨幹萃取：</a:t>
              </a:r>
              <a:r>
                <a:rPr lang="zh-TW" altLang="zh-TW" sz="2000" dirty="0">
                  <a:effectLst/>
                  <a:latin typeface="Google Sans Text"/>
                </a:rPr>
                <a:t> 擷取物體核心骨架特徵，作為斷短路防呆邏輯 。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B89D29FC-1BDF-FEA9-8D3C-FBCD4B4186BE}"/>
              </a:ext>
            </a:extLst>
          </p:cNvPr>
          <p:cNvGrpSpPr/>
          <p:nvPr/>
        </p:nvGrpSpPr>
        <p:grpSpPr>
          <a:xfrm>
            <a:off x="6242957" y="3654942"/>
            <a:ext cx="5785760" cy="2637000"/>
            <a:chOff x="6242957" y="3654942"/>
            <a:chExt cx="5785760" cy="2637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62D68C-9DAE-1AEB-FC13-C808382C10D3}"/>
                </a:ext>
              </a:extLst>
            </p:cNvPr>
            <p:cNvSpPr/>
            <p:nvPr/>
          </p:nvSpPr>
          <p:spPr>
            <a:xfrm>
              <a:off x="6242960" y="3654942"/>
              <a:ext cx="5785757" cy="263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DE2DB67-7729-9B76-B00F-18AC995EACD6}"/>
                </a:ext>
              </a:extLst>
            </p:cNvPr>
            <p:cNvSpPr txBox="1"/>
            <p:nvPr/>
          </p:nvSpPr>
          <p:spPr>
            <a:xfrm>
              <a:off x="6242957" y="3675841"/>
              <a:ext cx="5785757" cy="26161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TW" altLang="zh-TW" sz="2400" b="1" dirty="0">
                  <a:effectLst/>
                  <a:latin typeface="Google Sans"/>
                </a:rPr>
                <a:t>瑕疵比對與幾何分類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>
                  <a:effectLst/>
                  <a:latin typeface="Google Sans Text"/>
                </a:rPr>
                <a:t>專題實作：</a:t>
              </a:r>
              <a:r>
                <a:rPr lang="zh-TW" altLang="zh-TW" sz="2000" dirty="0">
                  <a:effectLst/>
                  <a:latin typeface="Google Sans Text"/>
                </a:rPr>
                <a:t>方向性邊緣相減，再以連通域面積 (Area) 過濾偽瑕疵並輸出警示框 。 </a:t>
              </a:r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TW" altLang="zh-TW" sz="2000" b="1" dirty="0">
                  <a:effectLst/>
                  <a:latin typeface="Google Sans Text"/>
                </a:rPr>
                <a:t>課程對應：</a:t>
              </a:r>
              <a:r>
                <a:rPr lang="zh-TW" altLang="zh-TW" sz="2000" dirty="0">
                  <a:effectLst/>
                  <a:latin typeface="Google Sans Text"/>
                </a:rPr>
                <a:t> </a:t>
              </a:r>
              <a:endParaRPr lang="en-US" altLang="zh-TW" sz="2000" dirty="0">
                <a:effectLst/>
                <a:latin typeface="Google Sans Text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zh-TW" sz="2000" b="1" dirty="0">
                  <a:effectLst/>
                  <a:latin typeface="Google Sans Text"/>
                </a:rPr>
                <a:t>參考比對法：</a:t>
              </a:r>
              <a:r>
                <a:rPr lang="zh-TW" altLang="zh-TW" sz="2000" dirty="0">
                  <a:effectLst/>
                  <a:latin typeface="Google Sans Text"/>
                </a:rPr>
                <a:t> 採用 Die-to-Reference，與標準金樣本相減抓出異常 。</a:t>
              </a:r>
              <a:endParaRPr lang="en-US" altLang="zh-TW" sz="2000" dirty="0">
                <a:effectLst/>
                <a:latin typeface="Google Sans Text"/>
              </a:endParaRPr>
            </a:p>
            <a:p>
              <a:pPr marL="800100" lvl="1" indent="-342900">
                <a:buFont typeface="Arial" panose="020B0604020202020204" pitchFamily="34" charset="0"/>
                <a:buChar char="•"/>
              </a:pPr>
              <a:r>
                <a:rPr lang="zh-TW" altLang="zh-TW" sz="2000" b="1" dirty="0">
                  <a:effectLst/>
                  <a:latin typeface="Google Sans Text"/>
                </a:rPr>
                <a:t>幾何特徵描述：</a:t>
              </a:r>
              <a:r>
                <a:rPr lang="zh-TW" altLang="zh-TW" sz="2000" dirty="0">
                  <a:effectLst/>
                  <a:latin typeface="Google Sans Text"/>
                </a:rPr>
                <a:t> 透過連通區域擷取計算面積，執行監督式規則分類 。 </a:t>
              </a:r>
            </a:p>
          </p:txBody>
        </p:sp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A0EA95-41BC-6D59-4E36-D3918E70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568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專題製作心得 </a:t>
            </a:r>
            <a:r>
              <a:rPr lang="en-US" altLang="zh-TW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貢獻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9FF7419-EAD3-385C-A97C-6C8B2235D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741560"/>
              </p:ext>
            </p:extLst>
          </p:nvPr>
        </p:nvGraphicFramePr>
        <p:xfrm>
          <a:off x="505356" y="873697"/>
          <a:ext cx="11181288" cy="4772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794">
                  <a:extLst>
                    <a:ext uri="{9D8B030D-6E8A-4147-A177-3AD203B41FA5}">
                      <a16:colId xmlns:a16="http://schemas.microsoft.com/office/drawing/2014/main" val="2009267747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890516028"/>
                    </a:ext>
                  </a:extLst>
                </a:gridCol>
                <a:gridCol w="5374744">
                  <a:extLst>
                    <a:ext uri="{9D8B030D-6E8A-4147-A177-3AD203B41FA5}">
                      <a16:colId xmlns:a16="http://schemas.microsoft.com/office/drawing/2014/main" val="1304170180"/>
                    </a:ext>
                  </a:extLst>
                </a:gridCol>
              </a:tblGrid>
              <a:tr h="790003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1" i="0" dirty="0">
                          <a:effectLst/>
                        </a:rPr>
                        <a:t>劉銘和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1" i="0">
                          <a:effectLst/>
                        </a:rPr>
                        <a:t>陳以軒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499403"/>
                  </a:ext>
                </a:extLst>
              </a:tr>
              <a:tr h="30670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dirty="0">
                          <a:effectLst/>
                        </a:rPr>
                        <a:t>心得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600" dirty="0"/>
                        <a:t>這次專題讓我深刻體會到，單純的邊緣偵測在面對微小震動與對位誤差時非常脆弱。一個機器視覺系統，不能只追求理論上的絕對精確，更需要具備吸收物理誤差的容錯空間（例如非對稱膨脹寬容度）。</a:t>
                      </a:r>
                    </a:p>
                    <a:p>
                      <a:r>
                        <a:rPr lang="zh-TW" altLang="zh-TW" sz="1600" dirty="0"/>
                        <a:t>在解決影像放大倍率不同</a:t>
                      </a:r>
                      <a:r>
                        <a:rPr lang="zh-TW" altLang="en-US" sz="1600" dirty="0"/>
                        <a:t>以及削去其他瑕疵</a:t>
                      </a:r>
                      <a:r>
                        <a:rPr lang="zh-TW" altLang="zh-TW" sz="1600" dirty="0"/>
                        <a:t>（如毛刺與短路）的問題時，我一度陷入盲目調整面積門檻的死胡同。直到捨棄固定參數，改用距離轉換建立動態機制，並利用「骨架交集」從幾何的底層邏輯來排除干擾。這讓我學到，與其反覆試湊數字，不如重新觀察影像的物理本質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effectLst/>
                        </a:rPr>
                        <a:t>在專題初期，我們花了不少時間尋找適合的 </a:t>
                      </a:r>
                      <a:r>
                        <a:rPr lang="en-US" altLang="zh-TW" sz="1600" b="0" i="0" dirty="0">
                          <a:effectLst/>
                        </a:rPr>
                        <a:t>PCB </a:t>
                      </a:r>
                      <a:r>
                        <a:rPr lang="zh-TW" altLang="en-US" sz="1600" b="0" i="0" dirty="0">
                          <a:effectLst/>
                        </a:rPr>
                        <a:t>瑕疵檢測資料集。由於一般公開資料多偏向深度學習訓練用途，因此需要同時考量影像解析度、瑕疵種類、標註完整性與是否適合傳統影像處理方法。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effectLst/>
                        </a:rPr>
                        <a:t>最後選擇使用 </a:t>
                      </a:r>
                      <a:r>
                        <a:rPr lang="en-US" altLang="zh-TW" sz="1600" b="0" i="0" dirty="0" err="1">
                          <a:effectLst/>
                        </a:rPr>
                        <a:t>DeepPCB</a:t>
                      </a:r>
                      <a:r>
                        <a:rPr lang="en-US" altLang="zh-TW" sz="1600" b="0" i="0" dirty="0">
                          <a:effectLst/>
                        </a:rPr>
                        <a:t> </a:t>
                      </a:r>
                      <a:r>
                        <a:rPr lang="zh-TW" altLang="en-US" sz="1600" b="0" i="0" dirty="0">
                          <a:effectLst/>
                        </a:rPr>
                        <a:t>開源資料集，原因是其包含 </a:t>
                      </a:r>
                      <a:r>
                        <a:rPr lang="en-US" altLang="zh-TW" sz="1600" b="0" i="0" dirty="0">
                          <a:effectLst/>
                        </a:rPr>
                        <a:t>Short </a:t>
                      </a:r>
                      <a:r>
                        <a:rPr lang="zh-TW" altLang="en-US" sz="1600" b="0" i="0" dirty="0">
                          <a:effectLst/>
                        </a:rPr>
                        <a:t>與 </a:t>
                      </a:r>
                      <a:r>
                        <a:rPr lang="en-US" altLang="zh-TW" sz="1600" b="0" i="0" dirty="0">
                          <a:effectLst/>
                        </a:rPr>
                        <a:t>Open </a:t>
                      </a:r>
                      <a:r>
                        <a:rPr lang="zh-TW" altLang="en-US" sz="1600" b="0" i="0" dirty="0">
                          <a:effectLst/>
                        </a:rPr>
                        <a:t>等常見 </a:t>
                      </a:r>
                      <a:r>
                        <a:rPr lang="en-US" altLang="zh-TW" sz="1600" b="0" i="0" dirty="0">
                          <a:effectLst/>
                        </a:rPr>
                        <a:t>PCB </a:t>
                      </a:r>
                      <a:r>
                        <a:rPr lang="zh-TW" altLang="en-US" sz="1600" b="0" i="0" dirty="0">
                          <a:effectLst/>
                        </a:rPr>
                        <a:t>缺陷，且提供良品與瑕疵影像對照，非常適合進行模板比對與方向性邊緣分析。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effectLst/>
                        </a:rPr>
                        <a:t>在實際使用過程中，我們也發現不同影像之間存在亮度差異、對位誤差與雜訊問題，因此必須額外進行二值化、形態學運算與骨架驗證等前處理，才能提升檢測穩定性。</a:t>
                      </a:r>
                      <a:endParaRPr lang="en-US" altLang="zh-TW" sz="1600" b="0" i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824458"/>
                  </a:ext>
                </a:extLst>
              </a:tr>
              <a:tr h="915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貢獻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50%</a:t>
                      </a:r>
                      <a:endParaRPr lang="zh-TW" altLang="zh-TW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50%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6986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26F0C4D-7687-4884-9284-99E0958C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200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200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B0199E-A570-C2F6-2B4E-8AC85B4307A4}"/>
              </a:ext>
            </a:extLst>
          </p:cNvPr>
          <p:cNvSpPr txBox="1"/>
          <p:nvPr/>
        </p:nvSpPr>
        <p:spPr>
          <a:xfrm>
            <a:off x="748393" y="840463"/>
            <a:ext cx="106952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400" dirty="0"/>
              <a:t>資料集來源</a:t>
            </a:r>
            <a:r>
              <a:rPr lang="en-US" altLang="zh-TW" sz="2400" dirty="0"/>
              <a:t>:</a:t>
            </a:r>
            <a:r>
              <a:rPr lang="zh-TW" altLang="zh-TW" sz="2400" dirty="0"/>
              <a:t>DeepPCB 開源 PCB 瑕疵影像資料集 (GitHub) 網址:</a:t>
            </a:r>
            <a:r>
              <a:rPr lang="zh-TW" altLang="en-US" sz="2400" dirty="0"/>
              <a:t> </a:t>
            </a:r>
            <a:r>
              <a:rPr lang="en-US" altLang="zh-TW" sz="2400" dirty="0"/>
              <a:t>[</a:t>
            </a:r>
            <a:r>
              <a:rPr lang="zh-TW" altLang="zh-TW" sz="2400" dirty="0">
                <a:hlinkClick r:id="rId2"/>
              </a:rPr>
              <a:t>https://github.com/tangsanli5201/DeepPCB</a:t>
            </a:r>
            <a:r>
              <a:rPr lang="en-US" altLang="zh-TW" sz="2400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400" dirty="0"/>
              <a:t>演算法實作參考文檔：MATLAB Image Processing Toolbox 官方說明文件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2400" dirty="0"/>
              <a:t>機器視覺檢測課程講義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 err="1"/>
              <a:t>gemini</a:t>
            </a:r>
            <a:endParaRPr lang="zh-TW" altLang="en-US" sz="2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7910ABC-1964-DDA6-C075-E0B916A5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5A229-CA29-4F24-846F-09032DAA2AD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52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2273</Words>
  <Application>Microsoft Office PowerPoint</Application>
  <PresentationFormat>寬螢幕</PresentationFormat>
  <Paragraphs>163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Google Sans</vt:lpstr>
      <vt:lpstr>Google Sans Text</vt:lpstr>
      <vt:lpstr>微軟正黑體</vt:lpstr>
      <vt:lpstr>Arial</vt:lpstr>
      <vt:lpstr>Calibri</vt:lpstr>
      <vt:lpstr>Calibri Light</vt:lpstr>
      <vt:lpstr>Cambria Math</vt:lpstr>
      <vt:lpstr>Wingdings</vt:lpstr>
      <vt:lpstr>Office 佈景主題</vt:lpstr>
      <vt:lpstr>PCB 板瑕疵邊緣偵測 短路與開路之自動化光學檢測</vt:lpstr>
      <vt:lpstr>檢測物件</vt:lpstr>
      <vt:lpstr>檢測物件</vt:lpstr>
      <vt:lpstr>檢測方法</vt:lpstr>
      <vt:lpstr>檢測方法</vt:lpstr>
      <vt:lpstr>檢測流程</vt:lpstr>
      <vt:lpstr>影像處理</vt:lpstr>
      <vt:lpstr>影像處理</vt:lpstr>
      <vt:lpstr>檢測結果-1</vt:lpstr>
      <vt:lpstr>檢測結果-2、3</vt:lpstr>
      <vt:lpstr>專題應用</vt:lpstr>
      <vt:lpstr>專題製作與課程相關知識</vt:lpstr>
      <vt:lpstr>專題製作心得 &amp; 貢獻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數位電子電路實驗期末專題</dc:title>
  <dc:creator>Windows 使用者</dc:creator>
  <cp:lastModifiedBy>劉 銘和</cp:lastModifiedBy>
  <cp:revision>62</cp:revision>
  <dcterms:created xsi:type="dcterms:W3CDTF">2022-05-16T13:47:55Z</dcterms:created>
  <dcterms:modified xsi:type="dcterms:W3CDTF">2026-06-04T02:50:04Z</dcterms:modified>
</cp:coreProperties>
</file>